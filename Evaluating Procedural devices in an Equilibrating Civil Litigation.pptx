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9" r:id="rId4"/>
  </p:sldMasterIdLst>
  <p:notesMasterIdLst>
    <p:notesMasterId r:id="rId29"/>
  </p:notesMasterIdLst>
  <p:handoutMasterIdLst>
    <p:handoutMasterId r:id="rId30"/>
  </p:handoutMasterIdLst>
  <p:sldIdLst>
    <p:sldId id="334" r:id="rId5"/>
    <p:sldId id="336" r:id="rId6"/>
    <p:sldId id="324" r:id="rId7"/>
    <p:sldId id="370" r:id="rId8"/>
    <p:sldId id="368" r:id="rId9"/>
    <p:sldId id="369" r:id="rId10"/>
    <p:sldId id="350" r:id="rId11"/>
    <p:sldId id="351" r:id="rId12"/>
    <p:sldId id="355" r:id="rId13"/>
    <p:sldId id="354" r:id="rId14"/>
    <p:sldId id="353" r:id="rId15"/>
    <p:sldId id="352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84967" autoAdjust="0"/>
  </p:normalViewPr>
  <p:slideViewPr>
    <p:cSldViewPr snapToGrid="0">
      <p:cViewPr varScale="1">
        <p:scale>
          <a:sx n="101" d="100"/>
          <a:sy n="101" d="100"/>
        </p:scale>
        <p:origin x="114" y="46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9/19/2025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9/19/2025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F397B-C81B-F346-4560-300385C0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38D50-07EE-7325-5DCF-E2B0C691B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D9D43-3DF9-12BB-7FDC-41141F875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D3161-94B9-5227-8EC0-443A4FB3C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01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70754-825B-76B6-F500-BEAAE139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71766-D32D-E4D0-329F-356FEAAB5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90E1B-2447-A9E1-2BEC-73A63F601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2C585-A66F-3587-C2C2-2485FBE45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147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04F7-0FBE-C03E-F807-F9AA74BD1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898D9-D746-77C0-2C3A-C9A44FF94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ACC8D-0D0E-BAA3-5067-3EED191E7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748E0-87FD-6F4F-0B28-E426F2E9A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14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026425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75-5E4E-4B84-B7E7-049F5C9D1C8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8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64253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854938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95107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75-5E4E-4B84-B7E7-049F5C9D1C8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415AFB-C46B-992C-5E2D-53A0A7D01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66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75-5E4E-4B84-B7E7-049F5C9D1C8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810B1C-9E51-4651-20E8-E6CE4D220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400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1917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38207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43958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17544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84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942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574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434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5" r:id="rId13"/>
    <p:sldLayoutId id="2147483796" r:id="rId1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991" y="3101491"/>
            <a:ext cx="7983110" cy="3080335"/>
          </a:xfrm>
        </p:spPr>
        <p:txBody>
          <a:bodyPr>
            <a:normAutofit/>
          </a:bodyPr>
          <a:lstStyle/>
          <a:p>
            <a:r>
              <a:rPr lang="en-US" dirty="0"/>
              <a:t>Evaluating Procedural devices in an Equilibrating Civil Litigation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C6E69-35E0-58E3-E6DD-974DC972752A}"/>
              </a:ext>
            </a:extLst>
          </p:cNvPr>
          <p:cNvSpPr txBox="1"/>
          <p:nvPr/>
        </p:nvSpPr>
        <p:spPr>
          <a:xfrm>
            <a:off x="1378991" y="6323798"/>
            <a:ext cx="2532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Michael Abramowicz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Past Papers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000" dirty="0"/>
              <a:t>Early attempts at computational modeling</a:t>
            </a:r>
          </a:p>
          <a:p>
            <a:r>
              <a:rPr lang="en-US" sz="4000" dirty="0"/>
              <a:t>Two-sided independent signals paper (published)</a:t>
            </a:r>
          </a:p>
          <a:p>
            <a:r>
              <a:rPr lang="en-US" sz="4000" dirty="0"/>
              <a:t>Two-sided correlated signals (under review)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Advances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Substantive:</a:t>
            </a:r>
            <a:br>
              <a:rPr lang="en-US" sz="3600" dirty="0"/>
            </a:br>
            <a:r>
              <a:rPr lang="en-US" sz="3600" dirty="0"/>
              <a:t>Endogenous disputes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Parties know precaution level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But only have signals of precaution power</a:t>
            </a:r>
          </a:p>
          <a:p>
            <a:endParaRPr lang="en-US" sz="3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dirty="0"/>
              <a:t>Methodological:</a:t>
            </a:r>
            <a:br>
              <a:rPr lang="en-US" sz="3600" dirty="0"/>
            </a:br>
            <a:r>
              <a:rPr lang="en-US" sz="3600" dirty="0"/>
              <a:t>Counterfactual Regret Minimization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Trees of 1,290,752 nodes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Bayesian marginalization reduces each tree to 225,497 nodes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2,269 different settings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9A2C-3BAC-7CB4-35C8-A04A9B7D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Precaution Power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6C3B4-F7F2-BD65-3293-77584AB7B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CE46-52D8-4F88-ACDC-9E21B7065805}" type="datetime1">
              <a:rPr lang="en-US" smtClean="0"/>
              <a:t>9/19/2025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81ED6-4D28-95A8-6061-6E186F188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539258"/>
            <a:ext cx="8553450" cy="531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35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number of objects">
            <a:extLst>
              <a:ext uri="{FF2B5EF4-FFF2-40B4-BE49-F238E27FC236}">
                <a16:creationId xmlns:a16="http://schemas.microsoft.com/office/drawing/2014/main" id="{E6D90CDE-61A9-7BD7-F4DC-C95CD6C6301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3137916" y="0"/>
            <a:ext cx="18492216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64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CB484-828A-DDD4-94D8-CCAFF1B8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E0E47-63D0-40D9-92C5-30FA52498C4B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0A1F44-33A1-5516-7A35-2150F6278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566" y="123655"/>
            <a:ext cx="6178868" cy="661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0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6F23EF-0654-C0FB-1C54-F5D710BE6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" y="0"/>
            <a:ext cx="121894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7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8CC72-3CEC-BD87-EB85-22FBD50B7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D6E73AC-E2B7-B02C-C5AA-7F7B52E1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Damages Multipliers </a:t>
            </a:r>
            <a:br>
              <a:rPr lang="en-US" dirty="0"/>
            </a:br>
            <a:r>
              <a:rPr lang="en-US" dirty="0"/>
              <a:t>(next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2639F-E403-C9CC-FF28-7996C744C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accent2"/>
                </a:solidFill>
              </a:rPr>
              <a:t>0.5x</a:t>
            </a:r>
          </a:p>
          <a:p>
            <a:r>
              <a:rPr lang="en-US" sz="4400" dirty="0">
                <a:solidFill>
                  <a:schemeClr val="accent2"/>
                </a:solidFill>
              </a:rPr>
              <a:t>1x</a:t>
            </a:r>
          </a:p>
          <a:p>
            <a:r>
              <a:rPr lang="en-US" sz="4400" dirty="0">
                <a:solidFill>
                  <a:schemeClr val="accent2"/>
                </a:solidFill>
              </a:rPr>
              <a:t>2x</a:t>
            </a:r>
          </a:p>
          <a:p>
            <a:r>
              <a:rPr lang="en-US" sz="4400" dirty="0">
                <a:solidFill>
                  <a:schemeClr val="accent2"/>
                </a:solidFill>
              </a:rPr>
              <a:t>4x</a:t>
            </a:r>
          </a:p>
          <a:p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222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F684-7E77-C705-C9DD-425D138DA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5615C-6339-CF6B-0AF8-26A0E454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B4C2-7FC9-4478-9668-665D2257D89D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EAFE6-0567-9C86-93C2-F25EC5A17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"/>
            <a:ext cx="12192000" cy="68572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3054D-AE5D-A82D-CEEC-B7ED4193D2CB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0.5x</a:t>
            </a:r>
          </a:p>
        </p:txBody>
      </p:sp>
    </p:spTree>
    <p:extLst>
      <p:ext uri="{BB962C8B-B14F-4D97-AF65-F5344CB8AC3E}">
        <p14:creationId xmlns:p14="http://schemas.microsoft.com/office/powerpoint/2010/main" val="95431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FB45-026A-B9F8-F6EC-6DCAB33E1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11DF3-A2B0-CCF1-2478-3AF84F1A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B4C2-7FC9-4478-9668-665D2257D89D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8F18FA-8643-5069-D928-ACBADCE4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7" y="0"/>
            <a:ext cx="121424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9A9411-71FC-6BCD-48F8-D4F9212470BC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1x</a:t>
            </a:r>
          </a:p>
        </p:txBody>
      </p:sp>
    </p:spTree>
    <p:extLst>
      <p:ext uri="{BB962C8B-B14F-4D97-AF65-F5344CB8AC3E}">
        <p14:creationId xmlns:p14="http://schemas.microsoft.com/office/powerpoint/2010/main" val="4261069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B57C-53CD-4C01-A47E-B4F5E6F4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0A9E2-D943-62BD-78CB-AE2CD818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B4C2-7FC9-4478-9668-665D2257D89D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9067CC-9041-15B0-12FD-CFA1AAE6F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" y="0"/>
            <a:ext cx="121692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0D73A9-B473-A320-CEB1-8E01E3F9EC9B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2x</a:t>
            </a:r>
          </a:p>
        </p:txBody>
      </p:sp>
    </p:spTree>
    <p:extLst>
      <p:ext uri="{BB962C8B-B14F-4D97-AF65-F5344CB8AC3E}">
        <p14:creationId xmlns:p14="http://schemas.microsoft.com/office/powerpoint/2010/main" val="408208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271FF1-32B5-B0F0-6CDC-206832B34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B4C2-7FC9-4478-9668-665D2257D89D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C238F9-6696-00A8-025F-210CA2F00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" y="0"/>
            <a:ext cx="1216167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5190E4-B108-A9B6-3706-435F57B661E4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4x</a:t>
            </a:r>
          </a:p>
        </p:txBody>
      </p:sp>
    </p:spTree>
    <p:extLst>
      <p:ext uri="{BB962C8B-B14F-4D97-AF65-F5344CB8AC3E}">
        <p14:creationId xmlns:p14="http://schemas.microsoft.com/office/powerpoint/2010/main" val="3377899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FC0F-F561-4120-09B4-00169F7C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7D83711-59FC-5B89-CAFD-EE651C480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 Shifting Multipliers </a:t>
            </a:r>
            <a:br>
              <a:rPr lang="en-US" dirty="0"/>
            </a:br>
            <a:r>
              <a:rPr lang="en-US" dirty="0"/>
              <a:t>(next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6BB9-9242-8466-B745-7F652A83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accent2"/>
                </a:solidFill>
              </a:rPr>
              <a:t>0x (American)</a:t>
            </a:r>
            <a:br>
              <a:rPr lang="en-US" sz="4400" dirty="0">
                <a:solidFill>
                  <a:schemeClr val="accent2"/>
                </a:solidFill>
              </a:rPr>
            </a:br>
            <a:r>
              <a:rPr lang="en-US" sz="4400" dirty="0">
                <a:solidFill>
                  <a:schemeClr val="accent2"/>
                </a:solidFill>
              </a:rPr>
              <a:t>0.5x</a:t>
            </a:r>
            <a:br>
              <a:rPr lang="en-US" sz="4400" dirty="0">
                <a:solidFill>
                  <a:schemeClr val="accent2"/>
                </a:solidFill>
              </a:rPr>
            </a:br>
            <a:r>
              <a:rPr lang="en-US" sz="4400" dirty="0">
                <a:solidFill>
                  <a:schemeClr val="accent2"/>
                </a:solidFill>
              </a:rPr>
              <a:t>1x (British)</a:t>
            </a:r>
            <a:br>
              <a:rPr lang="en-US" sz="4400" dirty="0">
                <a:solidFill>
                  <a:schemeClr val="accent2"/>
                </a:solidFill>
              </a:rPr>
            </a:br>
            <a:r>
              <a:rPr lang="en-US" sz="4400" dirty="0">
                <a:solidFill>
                  <a:schemeClr val="accent2"/>
                </a:solidFill>
              </a:rPr>
              <a:t>2x</a:t>
            </a:r>
            <a:br>
              <a:rPr lang="en-US" sz="4400" dirty="0">
                <a:solidFill>
                  <a:schemeClr val="accent2"/>
                </a:solidFill>
              </a:rPr>
            </a:br>
            <a:r>
              <a:rPr lang="en-US" sz="4400" dirty="0">
                <a:solidFill>
                  <a:schemeClr val="accent2"/>
                </a:solidFill>
              </a:rPr>
              <a:t>5x</a:t>
            </a:r>
          </a:p>
          <a:p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81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040B5-0774-A436-C426-BC7CB104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4BAE4-D706-4C71-A2E0-ED5667653BB3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C2F207-4917-B510-7202-36A839F5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4" y="0"/>
            <a:ext cx="1215495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611866-0049-BA92-7C06-4C8B0C75409C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0x (American)</a:t>
            </a:r>
          </a:p>
        </p:txBody>
      </p:sp>
    </p:spTree>
    <p:extLst>
      <p:ext uri="{BB962C8B-B14F-4D97-AF65-F5344CB8AC3E}">
        <p14:creationId xmlns:p14="http://schemas.microsoft.com/office/powerpoint/2010/main" val="1689746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72584-A6E4-14B1-50C0-5ADC6427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1D54F-2992-4B04-9888-72F4B200511A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1D8AA-7E03-9E5F-9335-F2BE5B827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3"/>
            <a:ext cx="12192000" cy="68468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923B19-1026-820B-11C1-9C66A5B4CD9E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0.5x</a:t>
            </a:r>
          </a:p>
        </p:txBody>
      </p:sp>
    </p:spTree>
    <p:extLst>
      <p:ext uri="{BB962C8B-B14F-4D97-AF65-F5344CB8AC3E}">
        <p14:creationId xmlns:p14="http://schemas.microsoft.com/office/powerpoint/2010/main" val="3827124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3307A-6F38-732A-D549-2CED376F4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E3C62-0794-4C74-BB6E-7F6AE0A61BC6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CEB57-3475-CAF9-9EF2-8DDDD2CF5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" y="0"/>
            <a:ext cx="121844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EFEBED-653C-B54B-5085-894ECA4178C3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1x (British)</a:t>
            </a:r>
          </a:p>
        </p:txBody>
      </p:sp>
    </p:spTree>
    <p:extLst>
      <p:ext uri="{BB962C8B-B14F-4D97-AF65-F5344CB8AC3E}">
        <p14:creationId xmlns:p14="http://schemas.microsoft.com/office/powerpoint/2010/main" val="4111292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EAC736-9693-9031-E389-028F9E296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14884-8C5B-458E-BE15-776A6CBF4D16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7B169-F9BD-2341-F1D5-302B6EFBE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"/>
            <a:ext cx="12192000" cy="68568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EF8B52-EE5B-1E90-6F1A-5ABA7B215647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2x</a:t>
            </a:r>
          </a:p>
        </p:txBody>
      </p:sp>
    </p:spTree>
    <p:extLst>
      <p:ext uri="{BB962C8B-B14F-4D97-AF65-F5344CB8AC3E}">
        <p14:creationId xmlns:p14="http://schemas.microsoft.com/office/powerpoint/2010/main" val="1197986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87AFA5-1FEF-D296-C991-D1A03389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9829-FA02-4D43-8878-848AD8589C26}" type="datetime1">
              <a:rPr lang="en-US" smtClean="0"/>
              <a:t>9/19/2025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F647C-D20D-22A7-67B4-4FB81122F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1" y="0"/>
            <a:ext cx="1214769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468D32-5D34-F7BA-1A12-8F84C04FEFAF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5x</a:t>
            </a:r>
          </a:p>
        </p:txBody>
      </p:sp>
    </p:spTree>
    <p:extLst>
      <p:ext uri="{BB962C8B-B14F-4D97-AF65-F5344CB8AC3E}">
        <p14:creationId xmlns:p14="http://schemas.microsoft.com/office/powerpoint/2010/main" val="1469108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6DF5-663B-A1CE-5EDB-0759CC54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A21B7EC-655D-2C45-EE22-BAA20481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Liability Threshold</a:t>
            </a:r>
            <a:br>
              <a:rPr lang="en-US" dirty="0"/>
            </a:br>
            <a:r>
              <a:rPr lang="en-US" dirty="0"/>
              <a:t>(next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46826-F4AB-A41B-02A4-DC21F111D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accent2"/>
                </a:solidFill>
              </a:rPr>
              <a:t>Strict</a:t>
            </a:r>
          </a:p>
          <a:p>
            <a:r>
              <a:rPr lang="en-US" sz="4400" dirty="0">
                <a:solidFill>
                  <a:schemeClr val="accent2"/>
                </a:solidFill>
              </a:rPr>
              <a:t>Low</a:t>
            </a:r>
          </a:p>
          <a:p>
            <a:r>
              <a:rPr lang="en-US" sz="4400" dirty="0">
                <a:solidFill>
                  <a:schemeClr val="accent2"/>
                </a:solidFill>
              </a:rPr>
              <a:t>Normal</a:t>
            </a:r>
          </a:p>
          <a:p>
            <a:r>
              <a:rPr lang="en-US" sz="4400" dirty="0">
                <a:solidFill>
                  <a:schemeClr val="accent2"/>
                </a:solidFill>
              </a:rPr>
              <a:t>High</a:t>
            </a:r>
          </a:p>
          <a:p>
            <a:r>
              <a:rPr lang="en-US" sz="4400" dirty="0">
                <a:solidFill>
                  <a:schemeClr val="accent2"/>
                </a:solidFill>
              </a:rPr>
              <a:t>Very High</a:t>
            </a:r>
          </a:p>
          <a:p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85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D27E-BCA9-874B-6AF8-B1224C45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205455-AF0A-7716-D135-84AEF709A8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C1B66-D820-6D3B-5E49-A83A12B6E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12085-6635-AA13-FD9B-A040A3C23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4" y="0"/>
            <a:ext cx="1213745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534059-ADA5-3132-5057-13A3DC7BC217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Strict</a:t>
            </a:r>
          </a:p>
        </p:txBody>
      </p:sp>
    </p:spTree>
    <p:extLst>
      <p:ext uri="{BB962C8B-B14F-4D97-AF65-F5344CB8AC3E}">
        <p14:creationId xmlns:p14="http://schemas.microsoft.com/office/powerpoint/2010/main" val="2231699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BE10-09E1-AEF9-9671-8DEDC398F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ACE25-E4D0-970D-FFE9-77B88AFD9C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9B98F-C996-408C-7541-18AB80C9D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93301-263F-2ECA-B352-C220B5947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" y="0"/>
            <a:ext cx="1218187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FF55D2-5F00-28FB-3A45-9F21FCC17958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2130967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24C7-64D8-5A0E-392A-A5625F0A6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7E6A6-6000-3ACA-E87B-AEB6DA0442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13C63-1DA6-20FF-ECB1-A9AF2B0FF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30112C-CB28-B100-94DE-75EC36E17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" y="0"/>
            <a:ext cx="1218187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49C832-651C-C61C-8E71-1A767C63195F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221000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2E9DA-E232-E095-D6F3-20C12A1E0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205A35-6FCE-553A-EA63-97377704A7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D46C9-49FD-8DE4-C96E-60ADE292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20CA5D-7DEB-967F-5FED-AB7722D17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9"/>
            <a:ext cx="12192000" cy="68546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892968-B28F-3625-1652-9855483DB3EB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297060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023D-1168-2051-1866-65B9D7ED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F1F3D-9477-1090-C6A2-0B7CAE166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BD4D0-C1F7-D364-93D9-5DDA169F0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045E8-A629-7FA9-E978-F0C60BB05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9"/>
            <a:ext cx="12192000" cy="68282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E75CC0-6B95-7D1C-F209-F29B39750DF9}"/>
              </a:ext>
            </a:extLst>
          </p:cNvPr>
          <p:cNvSpPr txBox="1"/>
          <p:nvPr/>
        </p:nvSpPr>
        <p:spPr>
          <a:xfrm>
            <a:off x="721980" y="63046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Very High</a:t>
            </a:r>
          </a:p>
        </p:txBody>
      </p:sp>
    </p:spTree>
    <p:extLst>
      <p:ext uri="{BB962C8B-B14F-4D97-AF65-F5344CB8AC3E}">
        <p14:creationId xmlns:p14="http://schemas.microsoft.com/office/powerpoint/2010/main" val="246805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</TotalTime>
  <Words>161</Words>
  <Application>Microsoft Office PowerPoint</Application>
  <PresentationFormat>Widescreen</PresentationFormat>
  <Paragraphs>59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Office Theme</vt:lpstr>
      <vt:lpstr>Evaluating Procedural devices in an Equilibrating Civil Litigation System</vt:lpstr>
      <vt:lpstr>Past Papers</vt:lpstr>
      <vt:lpstr>Core Advances</vt:lpstr>
      <vt:lpstr>Effect of Precaution Power</vt:lpstr>
      <vt:lpstr>PowerPoint Presentation</vt:lpstr>
      <vt:lpstr>PowerPoint Presentation</vt:lpstr>
      <vt:lpstr>PowerPoint Presentation</vt:lpstr>
      <vt:lpstr>Damages Multipliers  (next slides)</vt:lpstr>
      <vt:lpstr>PowerPoint Presentation</vt:lpstr>
      <vt:lpstr>PowerPoint Presentation</vt:lpstr>
      <vt:lpstr>PowerPoint Presentation</vt:lpstr>
      <vt:lpstr>PowerPoint Presentation</vt:lpstr>
      <vt:lpstr>Fee Shifting Multipliers  (next slides)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Liability Threshold (next slides)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Abramowicz</dc:creator>
  <cp:lastModifiedBy>Michael Abramowicz</cp:lastModifiedBy>
  <cp:revision>2</cp:revision>
  <dcterms:created xsi:type="dcterms:W3CDTF">2025-09-19T19:15:32Z</dcterms:created>
  <dcterms:modified xsi:type="dcterms:W3CDTF">2025-09-19T21:24:37Z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